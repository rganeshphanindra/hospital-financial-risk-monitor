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4630400" cy="8229600"/>
  <p:notesSz cx="8229600" cy="14630400"/>
  <p:embeddedFontLst>
    <p:embeddedFont>
      <p:font typeface="Bell MT" panose="02020503060305020303" pitchFamily="18" charset="0"/>
      <p:regular r:id="rId7"/>
      <p:bold r:id="rId8"/>
      <p:italic r:id="rId9"/>
    </p:embeddedFont>
    <p:embeddedFont>
      <p:font typeface="Fraunces Extra Bold" panose="020B0604020202020204" charset="0"/>
      <p:regular r:id="rId10"/>
    </p:embeddedFont>
    <p:embeddedFont>
      <p:font typeface="Nobile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42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68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nesh Rajanidi" userId="005cb8fc465236c7" providerId="LiveId" clId="{9C562F73-C663-4988-946A-37AB33F1C9E4}"/>
    <pc:docChg chg="undo custSel addSld modSld">
      <pc:chgData name="Ganesh Rajanidi" userId="005cb8fc465236c7" providerId="LiveId" clId="{9C562F73-C663-4988-946A-37AB33F1C9E4}" dt="2026-02-02T23:52:00.453" v="410"/>
      <pc:docMkLst>
        <pc:docMk/>
      </pc:docMkLst>
      <pc:sldChg chg="addSp delSp modSp mod">
        <pc:chgData name="Ganesh Rajanidi" userId="005cb8fc465236c7" providerId="LiveId" clId="{9C562F73-C663-4988-946A-37AB33F1C9E4}" dt="2026-02-02T21:40:09.970" v="178" actId="14100"/>
        <pc:sldMkLst>
          <pc:docMk/>
          <pc:sldMk cId="0" sldId="256"/>
        </pc:sldMkLst>
        <pc:spChg chg="mod">
          <ac:chgData name="Ganesh Rajanidi" userId="005cb8fc465236c7" providerId="LiveId" clId="{9C562F73-C663-4988-946A-37AB33F1C9E4}" dt="2026-02-02T20:15:48.751" v="10" actId="404"/>
          <ac:spMkLst>
            <pc:docMk/>
            <pc:sldMk cId="0" sldId="256"/>
            <ac:spMk id="2" creationId="{00000000-0000-0000-0000-000000000000}"/>
          </ac:spMkLst>
        </pc:spChg>
        <pc:spChg chg="mod">
          <ac:chgData name="Ganesh Rajanidi" userId="005cb8fc465236c7" providerId="LiveId" clId="{9C562F73-C663-4988-946A-37AB33F1C9E4}" dt="2026-02-02T20:26:58.327" v="162" actId="14100"/>
          <ac:spMkLst>
            <pc:docMk/>
            <pc:sldMk cId="0" sldId="256"/>
            <ac:spMk id="4" creationId="{00000000-0000-0000-0000-000000000000}"/>
          </ac:spMkLst>
        </pc:spChg>
        <pc:spChg chg="mod">
          <ac:chgData name="Ganesh Rajanidi" userId="005cb8fc465236c7" providerId="LiveId" clId="{9C562F73-C663-4988-946A-37AB33F1C9E4}" dt="2026-02-02T20:27:04.779" v="164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Ganesh Rajanidi" userId="005cb8fc465236c7" providerId="LiveId" clId="{9C562F73-C663-4988-946A-37AB33F1C9E4}" dt="2026-02-02T20:27:32.520" v="171" actId="5793"/>
          <ac:spMkLst>
            <pc:docMk/>
            <pc:sldMk cId="0" sldId="256"/>
            <ac:spMk id="7" creationId="{00000000-0000-0000-0000-000000000000}"/>
          </ac:spMkLst>
        </pc:spChg>
        <pc:spChg chg="add mod">
          <ac:chgData name="Ganesh Rajanidi" userId="005cb8fc465236c7" providerId="LiveId" clId="{9C562F73-C663-4988-946A-37AB33F1C9E4}" dt="2026-02-02T21:40:01.723" v="175" actId="1076"/>
          <ac:spMkLst>
            <pc:docMk/>
            <pc:sldMk cId="0" sldId="256"/>
            <ac:spMk id="11" creationId="{C09BCB5D-70E8-C71F-14ED-6A98BF484007}"/>
          </ac:spMkLst>
        </pc:spChg>
        <pc:spChg chg="add mod">
          <ac:chgData name="Ganesh Rajanidi" userId="005cb8fc465236c7" providerId="LiveId" clId="{9C562F73-C663-4988-946A-37AB33F1C9E4}" dt="2026-02-02T21:40:09.970" v="178" actId="14100"/>
          <ac:spMkLst>
            <pc:docMk/>
            <pc:sldMk cId="0" sldId="256"/>
            <ac:spMk id="12" creationId="{C6B072FC-6806-DB79-83C7-0C2DACEA83EC}"/>
          </ac:spMkLst>
        </pc:spChg>
        <pc:spChg chg="add mod">
          <ac:chgData name="Ganesh Rajanidi" userId="005cb8fc465236c7" providerId="LiveId" clId="{9C562F73-C663-4988-946A-37AB33F1C9E4}" dt="2026-02-02T20:25:11.323" v="158" actId="14100"/>
          <ac:spMkLst>
            <pc:docMk/>
            <pc:sldMk cId="0" sldId="256"/>
            <ac:spMk id="13" creationId="{2BEAD512-37DF-8D4F-B222-8F3DDDCC3448}"/>
          </ac:spMkLst>
        </pc:spChg>
        <pc:spChg chg="add mod">
          <ac:chgData name="Ganesh Rajanidi" userId="005cb8fc465236c7" providerId="LiveId" clId="{9C562F73-C663-4988-946A-37AB33F1C9E4}" dt="2026-02-02T20:21:19.585" v="102" actId="1076"/>
          <ac:spMkLst>
            <pc:docMk/>
            <pc:sldMk cId="0" sldId="256"/>
            <ac:spMk id="14" creationId="{9F90B117-CC4D-81D1-8958-A237C545DC15}"/>
          </ac:spMkLst>
        </pc:spChg>
        <pc:spChg chg="add mod">
          <ac:chgData name="Ganesh Rajanidi" userId="005cb8fc465236c7" providerId="LiveId" clId="{9C562F73-C663-4988-946A-37AB33F1C9E4}" dt="2026-02-02T20:23:54.902" v="142" actId="1076"/>
          <ac:spMkLst>
            <pc:docMk/>
            <pc:sldMk cId="0" sldId="256"/>
            <ac:spMk id="15" creationId="{1A1B1F87-A012-4751-DCD9-9BF62CA76637}"/>
          </ac:spMkLst>
        </pc:spChg>
        <pc:spChg chg="add mod">
          <ac:chgData name="Ganesh Rajanidi" userId="005cb8fc465236c7" providerId="LiveId" clId="{9C562F73-C663-4988-946A-37AB33F1C9E4}" dt="2026-02-02T20:23:36.920" v="139" actId="1076"/>
          <ac:spMkLst>
            <pc:docMk/>
            <pc:sldMk cId="0" sldId="256"/>
            <ac:spMk id="16" creationId="{8F30203E-6C97-EFEA-A3CE-C6498166C511}"/>
          </ac:spMkLst>
        </pc:spChg>
        <pc:spChg chg="add mod">
          <ac:chgData name="Ganesh Rajanidi" userId="005cb8fc465236c7" providerId="LiveId" clId="{9C562F73-C663-4988-946A-37AB33F1C9E4}" dt="2026-02-02T20:24:26.417" v="149" actId="20577"/>
          <ac:spMkLst>
            <pc:docMk/>
            <pc:sldMk cId="0" sldId="256"/>
            <ac:spMk id="17" creationId="{37C6D9D9-6463-EE7C-D0C3-B169640BF451}"/>
          </ac:spMkLst>
        </pc:spChg>
        <pc:spChg chg="add mod">
          <ac:chgData name="Ganesh Rajanidi" userId="005cb8fc465236c7" providerId="LiveId" clId="{9C562F73-C663-4988-946A-37AB33F1C9E4}" dt="2026-02-02T20:24:52.301" v="157" actId="20577"/>
          <ac:spMkLst>
            <pc:docMk/>
            <pc:sldMk cId="0" sldId="256"/>
            <ac:spMk id="18" creationId="{27FFBF62-565F-851B-C125-8DEC5596C4D5}"/>
          </ac:spMkLst>
        </pc:spChg>
        <pc:picChg chg="del mod">
          <ac:chgData name="Ganesh Rajanidi" userId="005cb8fc465236c7" providerId="LiveId" clId="{9C562F73-C663-4988-946A-37AB33F1C9E4}" dt="2026-02-02T20:16:58.687" v="15" actId="478"/>
          <ac:picMkLst>
            <pc:docMk/>
            <pc:sldMk cId="0" sldId="256"/>
            <ac:picMk id="3" creationId="{00000000-0000-0000-0000-000000000000}"/>
          </ac:picMkLst>
        </pc:picChg>
        <pc:picChg chg="add mod">
          <ac:chgData name="Ganesh Rajanidi" userId="005cb8fc465236c7" providerId="LiveId" clId="{9C562F73-C663-4988-946A-37AB33F1C9E4}" dt="2026-02-02T20:21:35.667" v="103" actId="14100"/>
          <ac:picMkLst>
            <pc:docMk/>
            <pc:sldMk cId="0" sldId="256"/>
            <ac:picMk id="10" creationId="{AFCDD9A1-3142-CBE2-17DA-ACC0AE8CBF57}"/>
          </ac:picMkLst>
        </pc:picChg>
      </pc:sldChg>
      <pc:sldChg chg="modSp add mod">
        <pc:chgData name="Ganesh Rajanidi" userId="005cb8fc465236c7" providerId="LiveId" clId="{9C562F73-C663-4988-946A-37AB33F1C9E4}" dt="2026-02-02T22:25:45.946" v="185" actId="20577"/>
        <pc:sldMkLst>
          <pc:docMk/>
          <pc:sldMk cId="0" sldId="257"/>
        </pc:sldMkLst>
        <pc:spChg chg="mod">
          <ac:chgData name="Ganesh Rajanidi" userId="005cb8fc465236c7" providerId="LiveId" clId="{9C562F73-C663-4988-946A-37AB33F1C9E4}" dt="2026-02-02T22:20:39.009" v="180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Ganesh Rajanidi" userId="005cb8fc465236c7" providerId="LiveId" clId="{9C562F73-C663-4988-946A-37AB33F1C9E4}" dt="2026-02-02T22:25:42.584" v="184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Ganesh Rajanidi" userId="005cb8fc465236c7" providerId="LiveId" clId="{9C562F73-C663-4988-946A-37AB33F1C9E4}" dt="2026-02-02T22:20:49.924" v="181" actId="107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Ganesh Rajanidi" userId="005cb8fc465236c7" providerId="LiveId" clId="{9C562F73-C663-4988-946A-37AB33F1C9E4}" dt="2026-02-02T22:20:56.587" v="182" actId="107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Ganesh Rajanidi" userId="005cb8fc465236c7" providerId="LiveId" clId="{9C562F73-C663-4988-946A-37AB33F1C9E4}" dt="2026-02-02T22:25:45.946" v="185" actId="20577"/>
          <ac:spMkLst>
            <pc:docMk/>
            <pc:sldMk cId="0" sldId="257"/>
            <ac:spMk id="16" creationId="{00000000-0000-0000-0000-000000000000}"/>
          </ac:spMkLst>
        </pc:spChg>
        <pc:picChg chg="mod">
          <ac:chgData name="Ganesh Rajanidi" userId="005cb8fc465236c7" providerId="LiveId" clId="{9C562F73-C663-4988-946A-37AB33F1C9E4}" dt="2026-02-02T22:21:02.192" v="183" actId="1076"/>
          <ac:picMkLst>
            <pc:docMk/>
            <pc:sldMk cId="0" sldId="257"/>
            <ac:picMk id="14" creationId="{00000000-0000-0000-0000-000000000000}"/>
          </ac:picMkLst>
        </pc:picChg>
      </pc:sldChg>
      <pc:sldChg chg="addSp delSp modSp add mod">
        <pc:chgData name="Ganesh Rajanidi" userId="005cb8fc465236c7" providerId="LiveId" clId="{9C562F73-C663-4988-946A-37AB33F1C9E4}" dt="2026-02-02T23:51:26.913" v="409" actId="22"/>
        <pc:sldMkLst>
          <pc:docMk/>
          <pc:sldMk cId="0" sldId="258"/>
        </pc:sldMkLst>
        <pc:spChg chg="mod">
          <ac:chgData name="Ganesh Rajanidi" userId="005cb8fc465236c7" providerId="LiveId" clId="{9C562F73-C663-4988-946A-37AB33F1C9E4}" dt="2026-02-02T22:37:36.238" v="188" actId="1076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Ganesh Rajanidi" userId="005cb8fc465236c7" providerId="LiveId" clId="{9C562F73-C663-4988-946A-37AB33F1C9E4}" dt="2026-02-02T23:12:34.830" v="208" actId="478"/>
          <ac:spMkLst>
            <pc:docMk/>
            <pc:sldMk cId="0" sldId="258"/>
            <ac:spMk id="4" creationId="{00000000-0000-0000-0000-000000000000}"/>
          </ac:spMkLst>
        </pc:spChg>
        <pc:spChg chg="mod">
          <ac:chgData name="Ganesh Rajanidi" userId="005cb8fc465236c7" providerId="LiveId" clId="{9C562F73-C663-4988-946A-37AB33F1C9E4}" dt="2026-02-02T23:12:21.123" v="205" actId="21"/>
          <ac:spMkLst>
            <pc:docMk/>
            <pc:sldMk cId="0" sldId="258"/>
            <ac:spMk id="5" creationId="{00000000-0000-0000-0000-000000000000}"/>
          </ac:spMkLst>
        </pc:spChg>
        <pc:spChg chg="add mod">
          <ac:chgData name="Ganesh Rajanidi" userId="005cb8fc465236c7" providerId="LiveId" clId="{9C562F73-C663-4988-946A-37AB33F1C9E4}" dt="2026-02-02T23:29:12.143" v="407" actId="1076"/>
          <ac:spMkLst>
            <pc:docMk/>
            <pc:sldMk cId="0" sldId="258"/>
            <ac:spMk id="9" creationId="{0630E2F7-CCC2-96EA-20E8-3F81FB4EA33A}"/>
          </ac:spMkLst>
        </pc:spChg>
        <pc:spChg chg="add mod">
          <ac:chgData name="Ganesh Rajanidi" userId="005cb8fc465236c7" providerId="LiveId" clId="{9C562F73-C663-4988-946A-37AB33F1C9E4}" dt="2026-02-02T23:28:02.958" v="397" actId="207"/>
          <ac:spMkLst>
            <pc:docMk/>
            <pc:sldMk cId="0" sldId="258"/>
            <ac:spMk id="10" creationId="{6951E65A-5D93-0155-2CF4-5DD08576A81F}"/>
          </ac:spMkLst>
        </pc:spChg>
        <pc:spChg chg="add mod">
          <ac:chgData name="Ganesh Rajanidi" userId="005cb8fc465236c7" providerId="LiveId" clId="{9C562F73-C663-4988-946A-37AB33F1C9E4}" dt="2026-02-02T23:28:05.867" v="398" actId="207"/>
          <ac:spMkLst>
            <pc:docMk/>
            <pc:sldMk cId="0" sldId="258"/>
            <ac:spMk id="11" creationId="{A6410E4C-01F1-9E22-09AE-AA0F9DC49126}"/>
          </ac:spMkLst>
        </pc:spChg>
        <pc:spChg chg="add mod">
          <ac:chgData name="Ganesh Rajanidi" userId="005cb8fc465236c7" providerId="LiveId" clId="{9C562F73-C663-4988-946A-37AB33F1C9E4}" dt="2026-02-02T23:28:09.107" v="399" actId="207"/>
          <ac:spMkLst>
            <pc:docMk/>
            <pc:sldMk cId="0" sldId="258"/>
            <ac:spMk id="12" creationId="{F92B6E89-B895-21D7-47B4-40159FBCF663}"/>
          </ac:spMkLst>
        </pc:spChg>
        <pc:spChg chg="add mod">
          <ac:chgData name="Ganesh Rajanidi" userId="005cb8fc465236c7" providerId="LiveId" clId="{9C562F73-C663-4988-946A-37AB33F1C9E4}" dt="2026-02-02T23:28:15.559" v="400" actId="207"/>
          <ac:spMkLst>
            <pc:docMk/>
            <pc:sldMk cId="0" sldId="258"/>
            <ac:spMk id="13" creationId="{4F24BC72-09C1-8B99-CD43-CA3A65A77946}"/>
          </ac:spMkLst>
        </pc:spChg>
        <pc:spChg chg="add mod">
          <ac:chgData name="Ganesh Rajanidi" userId="005cb8fc465236c7" providerId="LiveId" clId="{9C562F73-C663-4988-946A-37AB33F1C9E4}" dt="2026-02-02T23:27:34.971" v="390" actId="207"/>
          <ac:spMkLst>
            <pc:docMk/>
            <pc:sldMk cId="0" sldId="258"/>
            <ac:spMk id="14" creationId="{63A22411-9057-E4DF-726C-095D47FCD842}"/>
          </ac:spMkLst>
        </pc:spChg>
        <pc:spChg chg="add mod">
          <ac:chgData name="Ganesh Rajanidi" userId="005cb8fc465236c7" providerId="LiveId" clId="{9C562F73-C663-4988-946A-37AB33F1C9E4}" dt="2026-02-02T23:27:42.133" v="391" actId="207"/>
          <ac:spMkLst>
            <pc:docMk/>
            <pc:sldMk cId="0" sldId="258"/>
            <ac:spMk id="15" creationId="{27F04F84-2650-95BC-85BD-D5EA4EF4CFFE}"/>
          </ac:spMkLst>
        </pc:spChg>
        <pc:spChg chg="add mod">
          <ac:chgData name="Ganesh Rajanidi" userId="005cb8fc465236c7" providerId="LiveId" clId="{9C562F73-C663-4988-946A-37AB33F1C9E4}" dt="2026-02-02T23:27:46.269" v="392" actId="207"/>
          <ac:spMkLst>
            <pc:docMk/>
            <pc:sldMk cId="0" sldId="258"/>
            <ac:spMk id="16" creationId="{7C0462A8-9A0A-1254-B1B5-1D70C8BDED92}"/>
          </ac:spMkLst>
        </pc:spChg>
        <pc:spChg chg="add mod">
          <ac:chgData name="Ganesh Rajanidi" userId="005cb8fc465236c7" providerId="LiveId" clId="{9C562F73-C663-4988-946A-37AB33F1C9E4}" dt="2026-02-02T23:27:49.126" v="393" actId="207"/>
          <ac:spMkLst>
            <pc:docMk/>
            <pc:sldMk cId="0" sldId="258"/>
            <ac:spMk id="17" creationId="{A7E0A7A9-41BE-589E-335E-D6A369381CAC}"/>
          </ac:spMkLst>
        </pc:spChg>
        <pc:spChg chg="add mod">
          <ac:chgData name="Ganesh Rajanidi" userId="005cb8fc465236c7" providerId="LiveId" clId="{9C562F73-C663-4988-946A-37AB33F1C9E4}" dt="2026-02-02T23:27:52.976" v="394" actId="207"/>
          <ac:spMkLst>
            <pc:docMk/>
            <pc:sldMk cId="0" sldId="258"/>
            <ac:spMk id="18" creationId="{9EBF7012-D788-0BA6-EC21-1FE1738DF750}"/>
          </ac:spMkLst>
        </pc:spChg>
        <pc:spChg chg="add mod">
          <ac:chgData name="Ganesh Rajanidi" userId="005cb8fc465236c7" providerId="LiveId" clId="{9C562F73-C663-4988-946A-37AB33F1C9E4}" dt="2026-02-02T23:27:56.230" v="395" actId="207"/>
          <ac:spMkLst>
            <pc:docMk/>
            <pc:sldMk cId="0" sldId="258"/>
            <ac:spMk id="19" creationId="{1ECE9AB9-AEAF-2976-4B82-F8CE7A810845}"/>
          </ac:spMkLst>
        </pc:spChg>
        <pc:spChg chg="add mod">
          <ac:chgData name="Ganesh Rajanidi" userId="005cb8fc465236c7" providerId="LiveId" clId="{9C562F73-C663-4988-946A-37AB33F1C9E4}" dt="2026-02-02T23:27:59.965" v="396" actId="207"/>
          <ac:spMkLst>
            <pc:docMk/>
            <pc:sldMk cId="0" sldId="258"/>
            <ac:spMk id="20" creationId="{3B9CB442-E08D-3275-7A0A-BB842BA774F5}"/>
          </ac:spMkLst>
        </pc:spChg>
        <pc:spChg chg="add mod">
          <ac:chgData name="Ganesh Rajanidi" userId="005cb8fc465236c7" providerId="LiveId" clId="{9C562F73-C663-4988-946A-37AB33F1C9E4}" dt="2026-02-02T23:23:05.645" v="366" actId="207"/>
          <ac:spMkLst>
            <pc:docMk/>
            <pc:sldMk cId="0" sldId="258"/>
            <ac:spMk id="23" creationId="{813AE026-E745-3913-9BF7-3980F65CAD96}"/>
          </ac:spMkLst>
        </pc:spChg>
        <pc:spChg chg="add mod">
          <ac:chgData name="Ganesh Rajanidi" userId="005cb8fc465236c7" providerId="LiveId" clId="{9C562F73-C663-4988-946A-37AB33F1C9E4}" dt="2026-02-02T23:28:43.686" v="404" actId="1076"/>
          <ac:spMkLst>
            <pc:docMk/>
            <pc:sldMk cId="0" sldId="258"/>
            <ac:spMk id="24" creationId="{BE3FC6C8-CA82-C980-9D38-53B6E0BEDE36}"/>
          </ac:spMkLst>
        </pc:spChg>
        <pc:spChg chg="add del">
          <ac:chgData name="Ganesh Rajanidi" userId="005cb8fc465236c7" providerId="LiveId" clId="{9C562F73-C663-4988-946A-37AB33F1C9E4}" dt="2026-02-02T23:51:26.913" v="409" actId="22"/>
          <ac:spMkLst>
            <pc:docMk/>
            <pc:sldMk cId="0" sldId="258"/>
            <ac:spMk id="26" creationId="{0387B9B7-3A49-4518-C4A7-3F2EFC739239}"/>
          </ac:spMkLst>
        </pc:spChg>
        <pc:grpChg chg="mod">
          <ac:chgData name="Ganesh Rajanidi" userId="005cb8fc465236c7" providerId="LiveId" clId="{9C562F73-C663-4988-946A-37AB33F1C9E4}" dt="2026-02-02T23:29:07.162" v="406" actId="14100"/>
          <ac:grpSpMkLst>
            <pc:docMk/>
            <pc:sldMk cId="0" sldId="258"/>
            <ac:grpSpMk id="21" creationId="{3DC75D8D-C1CE-2455-6DAC-DB0C2FBB4057}"/>
          </ac:grpSpMkLst>
        </pc:grpChg>
        <pc:picChg chg="del mod">
          <ac:chgData name="Ganesh Rajanidi" userId="005cb8fc465236c7" providerId="LiveId" clId="{9C562F73-C663-4988-946A-37AB33F1C9E4}" dt="2026-02-02T23:11:16.329" v="190" actId="478"/>
          <ac:picMkLst>
            <pc:docMk/>
            <pc:sldMk cId="0" sldId="258"/>
            <ac:picMk id="3" creationId="{00000000-0000-0000-0000-000000000000}"/>
          </ac:picMkLst>
        </pc:picChg>
        <pc:picChg chg="add mod">
          <ac:chgData name="Ganesh Rajanidi" userId="005cb8fc465236c7" providerId="LiveId" clId="{9C562F73-C663-4988-946A-37AB33F1C9E4}" dt="2026-02-02T23:14:34.005" v="240" actId="1076"/>
          <ac:picMkLst>
            <pc:docMk/>
            <pc:sldMk cId="0" sldId="258"/>
            <ac:picMk id="7" creationId="{8A974606-B16F-36D2-0E30-D854460ACE46}"/>
          </ac:picMkLst>
        </pc:picChg>
      </pc:sldChg>
      <pc:sldChg chg="add">
        <pc:chgData name="Ganesh Rajanidi" userId="005cb8fc465236c7" providerId="LiveId" clId="{9C562F73-C663-4988-946A-37AB33F1C9E4}" dt="2026-02-02T23:52:00.453" v="410"/>
        <pc:sldMkLst>
          <pc:docMk/>
          <pc:sldMk cId="0" sldId="25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3875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4978"/>
            <a:ext cx="1195887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40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Hospital losses are driven by structural cost failures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9241454" y="1937266"/>
            <a:ext cx="5028715" cy="5322093"/>
          </a:xfrm>
          <a:prstGeom prst="roundRect">
            <a:avLst>
              <a:gd name="adj" fmla="val 3519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197469" y="1895629"/>
            <a:ext cx="130016" cy="5322093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9987677" y="21945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Key Takeaways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371471" y="2775704"/>
            <a:ext cx="4833140" cy="254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 cost structures are the primary driver of over </a:t>
            </a:r>
            <a:r>
              <a:rPr lang="en-US" sz="16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$2.1 billion dollars</a:t>
            </a: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in system-wide losses.</a:t>
            </a:r>
          </a:p>
          <a:p>
            <a:pPr algn="l">
              <a:lnSpc>
                <a:spcPts val="2850"/>
              </a:lnSpc>
              <a:buSzPct val="100000"/>
            </a:pPr>
            <a:endParaRPr lang="en-US" sz="16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impact of low utilization is minor compared to the significant financial drain from elevated operating costs.</a:t>
            </a:r>
          </a:p>
          <a:p>
            <a:pPr algn="l">
              <a:lnSpc>
                <a:spcPts val="2850"/>
              </a:lnSpc>
              <a:buSzPct val="100000"/>
            </a:pPr>
            <a:endParaRPr lang="en-US" sz="16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Profitable hospitals generate </a:t>
            </a:r>
            <a:r>
              <a:rPr lang="en-US" sz="16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+16.3 billion</a:t>
            </a: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sz="16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dollars </a:t>
            </a: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 net income, masking losses elsewhere in the system.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93790" y="657073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10" name="Picture 9" descr="A green and white rectangles&#10;&#10;AI-generated content may be incorrect.">
            <a:extLst>
              <a:ext uri="{FF2B5EF4-FFF2-40B4-BE49-F238E27FC236}">
                <a16:creationId xmlns:a16="http://schemas.microsoft.com/office/drawing/2014/main" id="{AFCDD9A1-3142-CBE2-17DA-ACC0AE8CB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36" y="1937265"/>
            <a:ext cx="7869424" cy="532209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09BCB5D-70E8-C71F-14ED-6A98BF484007}"/>
              </a:ext>
            </a:extLst>
          </p:cNvPr>
          <p:cNvSpPr txBox="1"/>
          <p:nvPr/>
        </p:nvSpPr>
        <p:spPr>
          <a:xfrm>
            <a:off x="2313920" y="4039471"/>
            <a:ext cx="1409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- $ 2.1 billion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B072FC-6806-DB79-83C7-0C2DACEA83EC}"/>
              </a:ext>
            </a:extLst>
          </p:cNvPr>
          <p:cNvSpPr txBox="1"/>
          <p:nvPr/>
        </p:nvSpPr>
        <p:spPr>
          <a:xfrm>
            <a:off x="5579563" y="2246868"/>
            <a:ext cx="1512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- $ 0.32 billion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EAD512-37DF-8D4F-B222-8F3DDDCC3448}"/>
              </a:ext>
            </a:extLst>
          </p:cNvPr>
          <p:cNvSpPr txBox="1"/>
          <p:nvPr/>
        </p:nvSpPr>
        <p:spPr>
          <a:xfrm>
            <a:off x="1958515" y="7179703"/>
            <a:ext cx="2120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 Cost Structures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90B117-CC4D-81D1-8958-A237C545DC15}"/>
              </a:ext>
            </a:extLst>
          </p:cNvPr>
          <p:cNvSpPr txBox="1"/>
          <p:nvPr/>
        </p:nvSpPr>
        <p:spPr>
          <a:xfrm>
            <a:off x="5579563" y="7185475"/>
            <a:ext cx="1600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Low Utilization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1B1F87-A012-4751-DCD9-9BF62CA76637}"/>
              </a:ext>
            </a:extLst>
          </p:cNvPr>
          <p:cNvSpPr txBox="1"/>
          <p:nvPr/>
        </p:nvSpPr>
        <p:spPr>
          <a:xfrm>
            <a:off x="360230" y="2056060"/>
            <a:ext cx="5134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$ 0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30203E-6C97-EFEA-A3CE-C6498166C511}"/>
              </a:ext>
            </a:extLst>
          </p:cNvPr>
          <p:cNvSpPr txBox="1"/>
          <p:nvPr/>
        </p:nvSpPr>
        <p:spPr>
          <a:xfrm>
            <a:off x="79842" y="3643520"/>
            <a:ext cx="793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- $ 0.80 B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C6D9D9-6463-EE7C-D0C3-B169640BF451}"/>
              </a:ext>
            </a:extLst>
          </p:cNvPr>
          <p:cNvSpPr txBox="1"/>
          <p:nvPr/>
        </p:nvSpPr>
        <p:spPr>
          <a:xfrm>
            <a:off x="79842" y="5296492"/>
            <a:ext cx="793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- $ 1.60 B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FFBF62-565F-851B-C125-8DEC5596C4D5}"/>
              </a:ext>
            </a:extLst>
          </p:cNvPr>
          <p:cNvSpPr txBox="1"/>
          <p:nvPr/>
        </p:nvSpPr>
        <p:spPr>
          <a:xfrm>
            <a:off x="79842" y="6902704"/>
            <a:ext cx="793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- $ 2.40 B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6169" y="429756"/>
            <a:ext cx="13282374" cy="1203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Losses Persist Due to Unfavorable Unit Economics, Not Utilization Gaps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674013" y="2019419"/>
            <a:ext cx="3622715" cy="360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Revenue Per Patient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674013" y="2721888"/>
            <a:ext cx="5501878" cy="240625"/>
          </a:xfrm>
          <a:prstGeom prst="roundRect">
            <a:avLst>
              <a:gd name="adj" fmla="val 72034"/>
            </a:avLst>
          </a:prstGeom>
          <a:solidFill>
            <a:srgbClr val="E8F3E8"/>
          </a:solidFill>
          <a:ln/>
        </p:spPr>
      </p:sp>
      <p:sp>
        <p:nvSpPr>
          <p:cNvPr id="5" name="Shape 3"/>
          <p:cNvSpPr/>
          <p:nvPr/>
        </p:nvSpPr>
        <p:spPr>
          <a:xfrm>
            <a:off x="674013" y="2721888"/>
            <a:ext cx="5501878" cy="240625"/>
          </a:xfrm>
          <a:prstGeom prst="roundRect">
            <a:avLst>
              <a:gd name="adj" fmla="val 72034"/>
            </a:avLst>
          </a:prstGeom>
          <a:solidFill>
            <a:srgbClr val="438951"/>
          </a:solidFill>
          <a:ln/>
        </p:spPr>
      </p:sp>
      <p:sp>
        <p:nvSpPr>
          <p:cNvPr id="6" name="Text 4"/>
          <p:cNvSpPr/>
          <p:nvPr/>
        </p:nvSpPr>
        <p:spPr>
          <a:xfrm>
            <a:off x="6320314" y="2721888"/>
            <a:ext cx="892731" cy="240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$9,800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74013" y="3181350"/>
            <a:ext cx="2481501" cy="300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Profitable Hospitals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7417356" y="2721888"/>
            <a:ext cx="5502116" cy="240625"/>
          </a:xfrm>
          <a:prstGeom prst="roundRect">
            <a:avLst>
              <a:gd name="adj" fmla="val 72034"/>
            </a:avLst>
          </a:prstGeom>
          <a:solidFill>
            <a:srgbClr val="E8F3E8"/>
          </a:solidFill>
          <a:ln/>
        </p:spPr>
      </p:sp>
      <p:sp>
        <p:nvSpPr>
          <p:cNvPr id="9" name="Shape 7"/>
          <p:cNvSpPr/>
          <p:nvPr/>
        </p:nvSpPr>
        <p:spPr>
          <a:xfrm>
            <a:off x="7417356" y="2721888"/>
            <a:ext cx="5502116" cy="240625"/>
          </a:xfrm>
          <a:prstGeom prst="roundRect">
            <a:avLst>
              <a:gd name="adj" fmla="val 72034"/>
            </a:avLst>
          </a:prstGeom>
          <a:solidFill>
            <a:srgbClr val="438951"/>
          </a:solidFill>
          <a:ln/>
        </p:spPr>
      </p:sp>
      <p:sp>
        <p:nvSpPr>
          <p:cNvPr id="10" name="Text 8"/>
          <p:cNvSpPr/>
          <p:nvPr/>
        </p:nvSpPr>
        <p:spPr>
          <a:xfrm>
            <a:off x="13063895" y="2721888"/>
            <a:ext cx="892493" cy="240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$6,800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7417356" y="3181350"/>
            <a:ext cx="2800826" cy="300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Loss-Making Hospitals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674013" y="3666173"/>
            <a:ext cx="13282374" cy="284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74014" y="3976688"/>
            <a:ext cx="13282374" cy="739854"/>
          </a:xfrm>
          <a:prstGeom prst="roundRect">
            <a:avLst>
              <a:gd name="adj" fmla="val 23428"/>
            </a:avLst>
          </a:prstGeom>
          <a:solidFill>
            <a:srgbClr val="CCE6D1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536" y="4246841"/>
            <a:ext cx="240625" cy="19252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99686" y="4212253"/>
            <a:ext cx="12464177" cy="284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Three thousand dollars less revenue per patient day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74013" y="5120164"/>
            <a:ext cx="3019306" cy="360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Cost Per Patient</a:t>
            </a:r>
            <a:endParaRPr lang="en-US" sz="2250" dirty="0"/>
          </a:p>
        </p:txBody>
      </p:sp>
      <p:sp>
        <p:nvSpPr>
          <p:cNvPr id="17" name="Shape 14"/>
          <p:cNvSpPr/>
          <p:nvPr/>
        </p:nvSpPr>
        <p:spPr>
          <a:xfrm>
            <a:off x="674013" y="5822633"/>
            <a:ext cx="5504855" cy="240625"/>
          </a:xfrm>
          <a:prstGeom prst="roundRect">
            <a:avLst>
              <a:gd name="adj" fmla="val 72034"/>
            </a:avLst>
          </a:prstGeom>
          <a:solidFill>
            <a:srgbClr val="E8F3E8"/>
          </a:solidFill>
          <a:ln/>
        </p:spPr>
      </p:sp>
      <p:sp>
        <p:nvSpPr>
          <p:cNvPr id="18" name="Shape 15"/>
          <p:cNvSpPr/>
          <p:nvPr/>
        </p:nvSpPr>
        <p:spPr>
          <a:xfrm>
            <a:off x="674013" y="5822633"/>
            <a:ext cx="5504855" cy="240625"/>
          </a:xfrm>
          <a:prstGeom prst="roundRect">
            <a:avLst>
              <a:gd name="adj" fmla="val 72034"/>
            </a:avLst>
          </a:prstGeom>
          <a:solidFill>
            <a:srgbClr val="438951"/>
          </a:solidFill>
          <a:ln/>
        </p:spPr>
      </p:sp>
      <p:sp>
        <p:nvSpPr>
          <p:cNvPr id="19" name="Text 16"/>
          <p:cNvSpPr/>
          <p:nvPr/>
        </p:nvSpPr>
        <p:spPr>
          <a:xfrm>
            <a:off x="6323290" y="5822633"/>
            <a:ext cx="889754" cy="240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$9,600</a:t>
            </a:r>
            <a:endParaRPr lang="en-US" sz="1850" dirty="0"/>
          </a:p>
        </p:txBody>
      </p:sp>
      <p:sp>
        <p:nvSpPr>
          <p:cNvPr id="20" name="Text 17"/>
          <p:cNvSpPr/>
          <p:nvPr/>
        </p:nvSpPr>
        <p:spPr>
          <a:xfrm>
            <a:off x="674013" y="6282095"/>
            <a:ext cx="2481501" cy="300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Profitable Hospitals</a:t>
            </a:r>
            <a:endParaRPr lang="en-US" sz="1850" dirty="0"/>
          </a:p>
        </p:txBody>
      </p:sp>
      <p:sp>
        <p:nvSpPr>
          <p:cNvPr id="21" name="Shape 18"/>
          <p:cNvSpPr/>
          <p:nvPr/>
        </p:nvSpPr>
        <p:spPr>
          <a:xfrm>
            <a:off x="7417356" y="5822633"/>
            <a:ext cx="5497116" cy="240625"/>
          </a:xfrm>
          <a:prstGeom prst="roundRect">
            <a:avLst>
              <a:gd name="adj" fmla="val 72034"/>
            </a:avLst>
          </a:prstGeom>
          <a:solidFill>
            <a:srgbClr val="E8F3E8"/>
          </a:solidFill>
          <a:ln/>
        </p:spPr>
      </p:sp>
      <p:sp>
        <p:nvSpPr>
          <p:cNvPr id="22" name="Shape 19"/>
          <p:cNvSpPr/>
          <p:nvPr/>
        </p:nvSpPr>
        <p:spPr>
          <a:xfrm>
            <a:off x="7417356" y="5822633"/>
            <a:ext cx="5497116" cy="240625"/>
          </a:xfrm>
          <a:prstGeom prst="roundRect">
            <a:avLst>
              <a:gd name="adj" fmla="val 72034"/>
            </a:avLst>
          </a:prstGeom>
          <a:solidFill>
            <a:srgbClr val="438951"/>
          </a:solidFill>
          <a:ln/>
        </p:spPr>
      </p:sp>
      <p:sp>
        <p:nvSpPr>
          <p:cNvPr id="23" name="Text 20"/>
          <p:cNvSpPr/>
          <p:nvPr/>
        </p:nvSpPr>
        <p:spPr>
          <a:xfrm>
            <a:off x="13058894" y="5822633"/>
            <a:ext cx="897493" cy="240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$8,400</a:t>
            </a:r>
            <a:endParaRPr lang="en-US" sz="1850" dirty="0"/>
          </a:p>
        </p:txBody>
      </p:sp>
      <p:sp>
        <p:nvSpPr>
          <p:cNvPr id="24" name="Text 21"/>
          <p:cNvSpPr/>
          <p:nvPr/>
        </p:nvSpPr>
        <p:spPr>
          <a:xfrm>
            <a:off x="7417356" y="6282095"/>
            <a:ext cx="2800826" cy="300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Loss-Making Hospitals</a:t>
            </a:r>
            <a:endParaRPr lang="en-US" sz="1850" dirty="0"/>
          </a:p>
        </p:txBody>
      </p:sp>
      <p:sp>
        <p:nvSpPr>
          <p:cNvPr id="25" name="Text 22"/>
          <p:cNvSpPr/>
          <p:nvPr/>
        </p:nvSpPr>
        <p:spPr>
          <a:xfrm>
            <a:off x="674013" y="6766917"/>
            <a:ext cx="13282374" cy="71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50" b="1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Insight:</a:t>
            </a:r>
            <a:r>
              <a:rPr lang="en-US" sz="1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Losses persist because loss making hospitals generate roughly three thousand dollars less revenue per patient day, even at high utilization.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960" y="347314"/>
            <a:ext cx="10222349" cy="47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40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Losses Concentrate in Small and Mid-Sized Hospitals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2029658" y="7589639"/>
            <a:ext cx="10571083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endParaRPr 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30E2F7-CCC2-96EA-20E8-3F81FB4EA33A}"/>
              </a:ext>
            </a:extLst>
          </p:cNvPr>
          <p:cNvSpPr txBox="1"/>
          <p:nvPr/>
        </p:nvSpPr>
        <p:spPr>
          <a:xfrm>
            <a:off x="2738925" y="6943090"/>
            <a:ext cx="9152547" cy="1140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en-US" sz="1800" b="1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Insight:</a:t>
            </a:r>
            <a:r>
              <a:rPr lang="en-US" sz="1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Losses concentrate in small and mid-sized hospitals, making targeted interventions more effective than system-wide actions.</a:t>
            </a:r>
            <a:endParaRPr lang="en-US" dirty="0"/>
          </a:p>
          <a:p>
            <a:pPr marL="0" indent="0" algn="l">
              <a:lnSpc>
                <a:spcPts val="2800"/>
              </a:lnSpc>
              <a:buNone/>
            </a:pPr>
            <a:endParaRPr lang="en-US" sz="18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DC75D8D-C1CE-2455-6DAC-DB0C2FBB4057}"/>
              </a:ext>
            </a:extLst>
          </p:cNvPr>
          <p:cNvGrpSpPr/>
          <p:nvPr/>
        </p:nvGrpSpPr>
        <p:grpSpPr>
          <a:xfrm>
            <a:off x="2670964" y="1954265"/>
            <a:ext cx="8771345" cy="4811198"/>
            <a:chOff x="2393046" y="1046845"/>
            <a:chExt cx="9498427" cy="5405843"/>
          </a:xfrm>
        </p:grpSpPr>
        <p:pic>
          <p:nvPicPr>
            <p:cNvPr id="7" name="Picture 6" descr="A graph of green bars&#10;&#10;AI-generated content may be incorrect.">
              <a:extLst>
                <a:ext uri="{FF2B5EF4-FFF2-40B4-BE49-F238E27FC236}">
                  <a16:creationId xmlns:a16="http://schemas.microsoft.com/office/drawing/2014/main" id="{8A974606-B16F-36D2-0E30-D854460ACE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38926" y="1145153"/>
              <a:ext cx="9152547" cy="501133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951E65A-5D93-0155-2CF4-5DD08576A81F}"/>
                </a:ext>
              </a:extLst>
            </p:cNvPr>
            <p:cNvSpPr txBox="1"/>
            <p:nvPr/>
          </p:nvSpPr>
          <p:spPr>
            <a:xfrm>
              <a:off x="2393047" y="1046845"/>
              <a:ext cx="513403" cy="308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6">
                      <a:lumMod val="50000"/>
                    </a:schemeClr>
                  </a:solidFill>
                </a:rPr>
                <a:t>30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6410E4C-01F1-9E22-09AE-AA0F9DC49126}"/>
                </a:ext>
              </a:extLst>
            </p:cNvPr>
            <p:cNvSpPr txBox="1"/>
            <p:nvPr/>
          </p:nvSpPr>
          <p:spPr>
            <a:xfrm>
              <a:off x="2393047" y="2679037"/>
              <a:ext cx="513403" cy="308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6">
                      <a:lumMod val="50000"/>
                    </a:schemeClr>
                  </a:solidFill>
                </a:rPr>
                <a:t>20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92B6E89-B895-21D7-47B4-40159FBCF663}"/>
                </a:ext>
              </a:extLst>
            </p:cNvPr>
            <p:cNvSpPr txBox="1"/>
            <p:nvPr/>
          </p:nvSpPr>
          <p:spPr>
            <a:xfrm>
              <a:off x="2393046" y="4328654"/>
              <a:ext cx="513403" cy="308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6">
                      <a:lumMod val="50000"/>
                    </a:schemeClr>
                  </a:solidFill>
                </a:rPr>
                <a:t>10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F24BC72-09C1-8B99-CD43-CA3A65A77946}"/>
                </a:ext>
              </a:extLst>
            </p:cNvPr>
            <p:cNvSpPr txBox="1"/>
            <p:nvPr/>
          </p:nvSpPr>
          <p:spPr>
            <a:xfrm>
              <a:off x="2482224" y="5940023"/>
              <a:ext cx="513403" cy="308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6">
                      <a:lumMod val="50000"/>
                    </a:schemeClr>
                  </a:solidFill>
                </a:rPr>
                <a:t>0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3A22411-9057-E4DF-726C-095D47FCD842}"/>
                </a:ext>
              </a:extLst>
            </p:cNvPr>
            <p:cNvSpPr txBox="1"/>
            <p:nvPr/>
          </p:nvSpPr>
          <p:spPr>
            <a:xfrm>
              <a:off x="3341506" y="6144483"/>
              <a:ext cx="779367" cy="308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6">
                      <a:lumMod val="50000"/>
                    </a:schemeClr>
                  </a:solidFill>
                </a:rPr>
                <a:t>0-49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7F04F84-2650-95BC-85BD-D5EA4EF4CFFE}"/>
                </a:ext>
              </a:extLst>
            </p:cNvPr>
            <p:cNvSpPr txBox="1"/>
            <p:nvPr/>
          </p:nvSpPr>
          <p:spPr>
            <a:xfrm>
              <a:off x="4589789" y="6138347"/>
              <a:ext cx="779367" cy="308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6">
                      <a:lumMod val="50000"/>
                    </a:schemeClr>
                  </a:solidFill>
                </a:rPr>
                <a:t>50-99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C0462A8-9A0A-1254-B1B5-1D70C8BDED92}"/>
                </a:ext>
              </a:extLst>
            </p:cNvPr>
            <p:cNvSpPr txBox="1"/>
            <p:nvPr/>
          </p:nvSpPr>
          <p:spPr>
            <a:xfrm>
              <a:off x="5838074" y="6136081"/>
              <a:ext cx="779367" cy="308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6">
                      <a:lumMod val="50000"/>
                    </a:schemeClr>
                  </a:solidFill>
                </a:rPr>
                <a:t>100-149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7E0A7A9-41BE-589E-335E-D6A369381CAC}"/>
                </a:ext>
              </a:extLst>
            </p:cNvPr>
            <p:cNvSpPr txBox="1"/>
            <p:nvPr/>
          </p:nvSpPr>
          <p:spPr>
            <a:xfrm>
              <a:off x="6963320" y="6136081"/>
              <a:ext cx="779367" cy="308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6">
                      <a:lumMod val="50000"/>
                    </a:schemeClr>
                  </a:solidFill>
                </a:rPr>
                <a:t>150-199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EBF7012-D788-0BA6-EC21-1FE1738DF750}"/>
                </a:ext>
              </a:extLst>
            </p:cNvPr>
            <p:cNvSpPr txBox="1"/>
            <p:nvPr/>
          </p:nvSpPr>
          <p:spPr>
            <a:xfrm>
              <a:off x="8211604" y="6129945"/>
              <a:ext cx="779367" cy="308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6">
                      <a:lumMod val="50000"/>
                    </a:schemeClr>
                  </a:solidFill>
                </a:rPr>
                <a:t>200-299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ECE9AB9-AEAF-2976-4B82-F8CE7A810845}"/>
                </a:ext>
              </a:extLst>
            </p:cNvPr>
            <p:cNvSpPr txBox="1"/>
            <p:nvPr/>
          </p:nvSpPr>
          <p:spPr>
            <a:xfrm>
              <a:off x="9459888" y="6129101"/>
              <a:ext cx="779367" cy="308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6">
                      <a:lumMod val="50000"/>
                    </a:schemeClr>
                  </a:solidFill>
                </a:rPr>
                <a:t>300-499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B9CB442-E08D-3275-7A0A-BB842BA774F5}"/>
                </a:ext>
              </a:extLst>
            </p:cNvPr>
            <p:cNvSpPr txBox="1"/>
            <p:nvPr/>
          </p:nvSpPr>
          <p:spPr>
            <a:xfrm>
              <a:off x="10708172" y="6091863"/>
              <a:ext cx="779367" cy="308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6">
                      <a:lumMod val="50000"/>
                    </a:schemeClr>
                  </a:solidFill>
                </a:rPr>
                <a:t>500+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813AE026-E745-3913-9BF7-3980F65CAD96}"/>
              </a:ext>
            </a:extLst>
          </p:cNvPr>
          <p:cNvSpPr txBox="1"/>
          <p:nvPr/>
        </p:nvSpPr>
        <p:spPr>
          <a:xfrm>
            <a:off x="4127109" y="1526122"/>
            <a:ext cx="7315200" cy="418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b="1" dirty="0">
                <a:solidFill>
                  <a:srgbClr val="2A421A"/>
                </a:solidFill>
                <a:latin typeface="Fraunces Extra Bold" panose="020B0604020202020204" charset="0"/>
              </a:rPr>
              <a:t>Number of loss making hospitals by bed size category</a:t>
            </a:r>
            <a:endParaRPr lang="en-US" sz="1800" b="1" dirty="0">
              <a:solidFill>
                <a:srgbClr val="2A421A"/>
              </a:solidFill>
              <a:latin typeface="Fraunces Extra Bold" panose="020B060402020202020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3FC6C8-CA82-C980-9D38-53B6E0BEDE36}"/>
              </a:ext>
            </a:extLst>
          </p:cNvPr>
          <p:cNvSpPr txBox="1"/>
          <p:nvPr/>
        </p:nvSpPr>
        <p:spPr>
          <a:xfrm rot="16200000">
            <a:off x="1003123" y="4001609"/>
            <a:ext cx="2686145" cy="412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latin typeface="Bell MT" panose="02020503060305020303" pitchFamily="18" charset="0"/>
              </a:rPr>
              <a:t>Count of loss making hospitals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5098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From Insight to Action: How Leadership Should Intervene and Monitor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5628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Based on analysis of 438 hospitals and 2.1 billion dollars in system-wide losses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501152"/>
            <a:ext cx="29647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Where to Focus First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082296"/>
            <a:ext cx="3933349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Loss-making hospitals with high cost structure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Bed size 50–299 beds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Primarily non-teaching and rural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500269"/>
            <a:ext cx="393334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Impact: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57 hospitals driving ~$2.1B in losses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88161" y="35011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What to Fix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88161" y="4082296"/>
            <a:ext cx="4069199" cy="2177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Reset cost structure toward system median (~$7,000)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Close ~$3,000 revenue gap per patient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Rationalize underperforming service lines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918383" y="3501152"/>
            <a:ext cx="329898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How to Track Progress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918383" y="4082296"/>
            <a:ext cx="3933349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Operating margin by hospital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Cost vs. system median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Revenue vs. system median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Utilization as secondary signal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652683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Goal: Repeatable decision making and early intervention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315</Words>
  <Application>Microsoft Office PowerPoint</Application>
  <PresentationFormat>Custom</PresentationFormat>
  <Paragraphs>64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Nobile</vt:lpstr>
      <vt:lpstr>Fraunces Extra Bold</vt:lpstr>
      <vt:lpstr>Arial</vt:lpstr>
      <vt:lpstr>Bell MT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Ganesh Rajanidi</dc:creator>
  <cp:lastModifiedBy>Ganesh Rajanidi</cp:lastModifiedBy>
  <cp:revision>1</cp:revision>
  <dcterms:created xsi:type="dcterms:W3CDTF">2026-02-02T20:12:21Z</dcterms:created>
  <dcterms:modified xsi:type="dcterms:W3CDTF">2026-02-03T00:02:25Z</dcterms:modified>
</cp:coreProperties>
</file>